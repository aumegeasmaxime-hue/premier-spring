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</p:sldIdLst>
  <p:sldSz cy="10287000" cx="18288000"/>
  <p:notesSz cx="6858000" cy="9144000"/>
  <p:embeddedFontLst>
    <p:embeddedFont>
      <p:font typeface="Roboto Slab"/>
      <p:regular r:id="rId11"/>
      <p:bold r:id="rId12"/>
    </p:embeddedFont>
    <p:embeddedFont>
      <p:font typeface="Roboto"/>
      <p:regular r:id="rId13"/>
      <p:bold r:id="rId14"/>
      <p:italic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7" roundtripDataSignature="AMtx7mhO4wgEFMgdmZtJ8lQqKnwGKPtR3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RobotoSlab-regular.fntdata"/><Relationship Id="rId10" Type="http://schemas.openxmlformats.org/officeDocument/2006/relationships/slide" Target="slides/slide6.xml"/><Relationship Id="rId13" Type="http://schemas.openxmlformats.org/officeDocument/2006/relationships/font" Target="fonts/Roboto-regular.fntdata"/><Relationship Id="rId12" Type="http://schemas.openxmlformats.org/officeDocument/2006/relationships/font" Target="fonts/RobotoSlab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Roboto-italic.fntdata"/><Relationship Id="rId14" Type="http://schemas.openxmlformats.org/officeDocument/2006/relationships/font" Target="fonts/Roboto-bold.fntdata"/><Relationship Id="rId17" Type="http://customschemas.google.com/relationships/presentationmetadata" Target="metadata"/><Relationship Id="rId16" Type="http://schemas.openxmlformats.org/officeDocument/2006/relationships/font" Target="fonts/Roboto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" name="Google Shape;13;p1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/>
              <a:t>Si important est utilisé c’est que souvent la feuille de style est mal organisée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" name="Google Shape;20;p4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g290153528ac_0_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" name="Google Shape;29;g290153528ac_0_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g290153528ac_0_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" name="Google Shape;39;g290153528ac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290153528ac_0_3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1" name="Google Shape;51;g290153528ac_0_3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290153528ac_0_5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2" name="Google Shape;62;g290153528ac_0_5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" type="tx">
  <p:cSld name="TITLE_AND_BODY">
    <p:bg>
      <p:bgPr>
        <a:gradFill>
          <a:gsLst>
            <a:gs pos="0">
              <a:srgbClr val="FFFFFF"/>
            </a:gs>
            <a:gs pos="100000">
              <a:srgbClr val="DDDDDD"/>
            </a:gs>
          </a:gsLst>
          <a:lin ang="16200000" scaled="0"/>
        </a:gra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type="title">
  <p:cSld name="TITLE">
    <p:bg>
      <p:bgPr>
        <a:gradFill>
          <a:gsLst>
            <a:gs pos="0">
              <a:srgbClr val="FFFFFF"/>
            </a:gs>
            <a:gs pos="100000">
              <a:srgbClr val="DDDDDD"/>
            </a:gs>
          </a:gsLst>
          <a:lin ang="16200000" scaled="0"/>
        </a:gradFill>
      </p:bgPr>
    </p:bg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2">
  <p:cSld name="BLANK 2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jpg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0"/>
          <p:cNvSpPr/>
          <p:nvPr/>
        </p:nvSpPr>
        <p:spPr>
          <a:xfrm>
            <a:off x="0" y="-121024"/>
            <a:ext cx="18288001" cy="10408024"/>
          </a:xfrm>
          <a:prstGeom prst="rect">
            <a:avLst/>
          </a:prstGeom>
          <a:solidFill>
            <a:srgbClr val="00467C">
              <a:alpha val="81568"/>
            </a:srgbClr>
          </a:solidFill>
          <a:ln cap="flat" cmpd="sng" w="25400">
            <a:solidFill>
              <a:schemeClr val="accent1">
                <a:alpha val="0"/>
              </a:scheme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" name="Google Shape;16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98846" y="-1936777"/>
            <a:ext cx="7543210" cy="1341015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10"/>
          <p:cNvSpPr txBox="1"/>
          <p:nvPr/>
        </p:nvSpPr>
        <p:spPr>
          <a:xfrm>
            <a:off x="6695007" y="5644655"/>
            <a:ext cx="8326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 Slab"/>
              <a:buNone/>
            </a:pPr>
            <a:r>
              <a:rPr b="1" i="0" lang="fr-FR" sz="4000" u="none" cap="none" strike="noStrik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rPr>
              <a:t>/ </a:t>
            </a:r>
            <a:r>
              <a:rPr b="1" lang="fr-FR" sz="4000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rPr>
              <a:t>CSS </a:t>
            </a:r>
            <a:r>
              <a:rPr b="1" i="0" lang="fr-FR" sz="4000" u="none" cap="none" strike="noStrik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rPr>
              <a:t>- Les bonnes pratiques</a:t>
            </a:r>
            <a:endParaRPr b="1" i="0" sz="4000" u="none" cap="none" strike="noStrike">
              <a:solidFill>
                <a:schemeClr val="lt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9"/>
          <p:cNvSpPr txBox="1"/>
          <p:nvPr/>
        </p:nvSpPr>
        <p:spPr>
          <a:xfrm>
            <a:off x="9144000" y="552394"/>
            <a:ext cx="8326200" cy="3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263E92"/>
              </a:buClr>
              <a:buSzPts val="3200"/>
              <a:buFont typeface="Roboto Slab"/>
              <a:buNone/>
            </a:pPr>
            <a:r>
              <a:rPr b="1" lang="fr-FR" sz="3200">
                <a:solidFill>
                  <a:srgbClr val="263E92"/>
                </a:solidFill>
                <a:latin typeface="Roboto Slab"/>
                <a:ea typeface="Roboto Slab"/>
                <a:cs typeface="Roboto Slab"/>
                <a:sym typeface="Roboto Slab"/>
              </a:rPr>
              <a:t>CSS</a:t>
            </a:r>
            <a:r>
              <a:rPr b="1" i="0" lang="fr-FR" sz="3200" u="none" cap="none" strike="noStrike">
                <a:solidFill>
                  <a:srgbClr val="263E92"/>
                </a:solidFill>
                <a:latin typeface="Roboto Slab"/>
                <a:ea typeface="Roboto Slab"/>
                <a:cs typeface="Roboto Slab"/>
                <a:sym typeface="Roboto Slab"/>
              </a:rPr>
              <a:t>/ </a:t>
            </a:r>
            <a:r>
              <a:rPr b="0" i="0" lang="fr-FR" sz="3200" u="none" cap="none" strike="noStrike">
                <a:solidFill>
                  <a:srgbClr val="263E92"/>
                </a:solidFill>
                <a:latin typeface="Roboto Slab"/>
                <a:ea typeface="Roboto Slab"/>
                <a:cs typeface="Roboto Slab"/>
                <a:sym typeface="Roboto Slab"/>
              </a:rPr>
              <a:t>Les bonnes pratiques</a:t>
            </a:r>
            <a:endParaRPr b="0" i="0" sz="3200" u="none" cap="none" strike="noStrike">
              <a:solidFill>
                <a:srgbClr val="263E92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pic>
        <p:nvPicPr>
          <p:cNvPr id="23" name="Google Shape;23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0461" y="304972"/>
            <a:ext cx="4044876" cy="725961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49"/>
          <p:cNvSpPr txBox="1"/>
          <p:nvPr/>
        </p:nvSpPr>
        <p:spPr>
          <a:xfrm>
            <a:off x="5045325" y="2695250"/>
            <a:ext cx="92808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b="1" lang="fr-FR" sz="5000">
                <a:solidFill>
                  <a:srgbClr val="0E0A1B"/>
                </a:solidFill>
                <a:latin typeface="Roboto"/>
                <a:ea typeface="Roboto"/>
                <a:cs typeface="Roboto"/>
                <a:sym typeface="Roboto"/>
              </a:rPr>
              <a:t>Organiser la feuille de style</a:t>
            </a:r>
            <a:endParaRPr b="1" sz="5000">
              <a:solidFill>
                <a:srgbClr val="0E0A1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" name="Google Shape;25;p49"/>
          <p:cNvSpPr txBox="1"/>
          <p:nvPr/>
        </p:nvSpPr>
        <p:spPr>
          <a:xfrm>
            <a:off x="1370100" y="4501125"/>
            <a:ext cx="16100100" cy="42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➔"/>
            </a:pPr>
            <a:r>
              <a:rPr b="1" lang="fr-FR" sz="28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Utiliser des noms de classe significatifs</a:t>
            </a:r>
            <a:r>
              <a:rPr lang="fr-FR" sz="2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: Choisissez des noms de classe qui décrivent le contenu ou la fonction de l'élément, plutôt que des noms génériques comme "box" ou "text".</a:t>
            </a:r>
            <a:endParaRPr sz="2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Roboto"/>
              <a:buChar char="➔"/>
            </a:pPr>
            <a:r>
              <a:rPr b="1" lang="fr-FR" sz="28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Commenter le code</a:t>
            </a:r>
            <a:r>
              <a:rPr lang="fr-FR" sz="2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: Utilisez des commentaires pour expliquer des sections importantes de votre CSS ou pour décrire des solutions de contournement spécifiques.</a:t>
            </a:r>
            <a:endParaRPr sz="2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Roboto"/>
              <a:buChar char="➔"/>
            </a:pPr>
            <a:r>
              <a:rPr b="1" lang="fr-FR" sz="28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Minimiser l'utilisation des !important</a:t>
            </a:r>
            <a:r>
              <a:rPr lang="fr-FR" sz="2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: L'utilisation excessive de !important peut rendre le débogage difficile. Évitez-le autant que possible.</a:t>
            </a:r>
            <a:endParaRPr sz="2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Roboto"/>
              <a:buChar char="➔"/>
            </a:pPr>
            <a:r>
              <a:rPr b="1" lang="fr-FR" sz="28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Utiliser les sauts de lignes</a:t>
            </a:r>
            <a:r>
              <a:rPr lang="fr-FR" sz="2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: Permet une meilleure visibilité.</a:t>
            </a:r>
            <a:endParaRPr sz="2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6" name="Google Shape;26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0925" y="2081758"/>
            <a:ext cx="1905000" cy="190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g290153528ac_0_9"/>
          <p:cNvSpPr txBox="1"/>
          <p:nvPr/>
        </p:nvSpPr>
        <p:spPr>
          <a:xfrm>
            <a:off x="9144000" y="552394"/>
            <a:ext cx="8326200" cy="3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263E92"/>
              </a:buClr>
              <a:buSzPts val="3200"/>
              <a:buFont typeface="Roboto Slab"/>
              <a:buNone/>
            </a:pPr>
            <a:r>
              <a:rPr b="1" lang="fr-FR" sz="3200">
                <a:solidFill>
                  <a:srgbClr val="263E92"/>
                </a:solidFill>
                <a:latin typeface="Roboto Slab"/>
                <a:ea typeface="Roboto Slab"/>
                <a:cs typeface="Roboto Slab"/>
                <a:sym typeface="Roboto Slab"/>
              </a:rPr>
              <a:t>CSS</a:t>
            </a:r>
            <a:r>
              <a:rPr b="1" i="0" lang="fr-FR" sz="3200" u="none" cap="none" strike="noStrike">
                <a:solidFill>
                  <a:srgbClr val="263E92"/>
                </a:solidFill>
                <a:latin typeface="Roboto Slab"/>
                <a:ea typeface="Roboto Slab"/>
                <a:cs typeface="Roboto Slab"/>
                <a:sym typeface="Roboto Slab"/>
              </a:rPr>
              <a:t>/ </a:t>
            </a:r>
            <a:r>
              <a:rPr b="0" i="0" lang="fr-FR" sz="3200" u="none" cap="none" strike="noStrike">
                <a:solidFill>
                  <a:srgbClr val="263E92"/>
                </a:solidFill>
                <a:latin typeface="Roboto Slab"/>
                <a:ea typeface="Roboto Slab"/>
                <a:cs typeface="Roboto Slab"/>
                <a:sym typeface="Roboto Slab"/>
              </a:rPr>
              <a:t>Les bonnes pratiques</a:t>
            </a:r>
            <a:endParaRPr b="0" i="0" sz="3200" u="none" cap="none" strike="noStrike">
              <a:solidFill>
                <a:srgbClr val="263E92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pic>
        <p:nvPicPr>
          <p:cNvPr id="32" name="Google Shape;32;g290153528ac_0_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0461" y="304972"/>
            <a:ext cx="4044876" cy="725961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g290153528ac_0_9"/>
          <p:cNvSpPr txBox="1"/>
          <p:nvPr/>
        </p:nvSpPr>
        <p:spPr>
          <a:xfrm>
            <a:off x="6610800" y="2476738"/>
            <a:ext cx="50664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b="1" lang="fr-FR" sz="5000">
                <a:solidFill>
                  <a:srgbClr val="0E0A1B"/>
                </a:solidFill>
                <a:latin typeface="Roboto"/>
                <a:ea typeface="Roboto"/>
                <a:cs typeface="Roboto"/>
                <a:sym typeface="Roboto"/>
              </a:rPr>
              <a:t>Soyez cohérent</a:t>
            </a:r>
            <a:endParaRPr b="1" sz="5000">
              <a:solidFill>
                <a:srgbClr val="0E0A1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4" name="Google Shape;34;g290153528ac_0_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64175" y="6233650"/>
            <a:ext cx="12759651" cy="3096550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g290153528ac_0_9"/>
          <p:cNvSpPr txBox="1"/>
          <p:nvPr/>
        </p:nvSpPr>
        <p:spPr>
          <a:xfrm>
            <a:off x="2632400" y="4007000"/>
            <a:ext cx="12937500" cy="20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06400" lvl="0" marL="45720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Char char="➔"/>
            </a:pPr>
            <a:r>
              <a:rPr b="1" lang="fr-FR" sz="2800">
                <a:solidFill>
                  <a:schemeClr val="accent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Regrouper les propriétés communes à différents sélecteurs</a:t>
            </a:r>
            <a:endParaRPr b="1" sz="2800">
              <a:solidFill>
                <a:schemeClr val="accent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accent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87350" lvl="0" marL="457200" rtl="0" algn="l">
              <a:spcBef>
                <a:spcPts val="400"/>
              </a:spcBef>
              <a:spcAft>
                <a:spcPts val="0"/>
              </a:spcAft>
              <a:buSzPts val="2500"/>
              <a:buFont typeface="Roboto"/>
              <a:buChar char="➔"/>
            </a:pPr>
            <a:r>
              <a:rPr b="1" lang="fr-FR" sz="25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Éviter l’utilisation abusive d’</a:t>
            </a:r>
            <a:r>
              <a:rPr b="1" lang="fr-FR" sz="27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ID </a:t>
            </a:r>
            <a:r>
              <a:rPr b="1" lang="fr-FR" sz="2700">
                <a:solidFill>
                  <a:srgbClr val="00467C"/>
                </a:solidFill>
                <a:latin typeface="Roboto"/>
                <a:ea typeface="Roboto"/>
                <a:cs typeface="Roboto"/>
                <a:sym typeface="Roboto"/>
              </a:rPr>
              <a:t>: </a:t>
            </a:r>
            <a:r>
              <a:rPr lang="fr-FR" sz="2500">
                <a:solidFill>
                  <a:srgbClr val="4A4A4A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Ne </a:t>
            </a:r>
            <a:r>
              <a:rPr lang="fr-FR" sz="2500">
                <a:solidFill>
                  <a:srgbClr val="4A4A4A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pas les bannir, mais d’éviter au maximum de les utiliser.</a:t>
            </a:r>
            <a:endParaRPr b="1" sz="2500">
              <a:solidFill>
                <a:srgbClr val="00467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6" name="Google Shape;36;g290153528ac_0_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23450" y="2049625"/>
            <a:ext cx="1808525" cy="1808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290153528ac_0_0"/>
          <p:cNvSpPr txBox="1"/>
          <p:nvPr/>
        </p:nvSpPr>
        <p:spPr>
          <a:xfrm>
            <a:off x="9144000" y="552394"/>
            <a:ext cx="8326200" cy="3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263E92"/>
              </a:buClr>
              <a:buSzPts val="3200"/>
              <a:buFont typeface="Roboto Slab"/>
              <a:buNone/>
            </a:pPr>
            <a:r>
              <a:rPr b="1" i="0" lang="fr-FR" sz="3200" u="none" cap="none" strike="noStrike">
                <a:solidFill>
                  <a:srgbClr val="263E92"/>
                </a:solidFill>
                <a:latin typeface="Roboto Slab"/>
                <a:ea typeface="Roboto Slab"/>
                <a:cs typeface="Roboto Slab"/>
                <a:sym typeface="Roboto Slab"/>
              </a:rPr>
              <a:t>HTML / </a:t>
            </a:r>
            <a:r>
              <a:rPr b="0" i="0" lang="fr-FR" sz="3200" u="none" cap="none" strike="noStrike">
                <a:solidFill>
                  <a:srgbClr val="263E92"/>
                </a:solidFill>
                <a:latin typeface="Roboto Slab"/>
                <a:ea typeface="Roboto Slab"/>
                <a:cs typeface="Roboto Slab"/>
                <a:sym typeface="Roboto Slab"/>
              </a:rPr>
              <a:t>Les bonnes pratiques</a:t>
            </a:r>
            <a:endParaRPr b="0" i="0" sz="3200" u="none" cap="none" strike="noStrike">
              <a:solidFill>
                <a:srgbClr val="263E92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pic>
        <p:nvPicPr>
          <p:cNvPr id="42" name="Google Shape;42;g290153528ac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0461" y="304972"/>
            <a:ext cx="4044876" cy="725961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g290153528ac_0_0"/>
          <p:cNvSpPr txBox="1"/>
          <p:nvPr/>
        </p:nvSpPr>
        <p:spPr>
          <a:xfrm>
            <a:off x="449225" y="2515600"/>
            <a:ext cx="55971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chemeClr val="dk1"/>
              </a:solidFill>
            </a:endParaRPr>
          </a:p>
        </p:txBody>
      </p:sp>
      <p:sp>
        <p:nvSpPr>
          <p:cNvPr id="44" name="Google Shape;44;g290153528ac_0_0"/>
          <p:cNvSpPr txBox="1"/>
          <p:nvPr/>
        </p:nvSpPr>
        <p:spPr>
          <a:xfrm>
            <a:off x="7883700" y="2877250"/>
            <a:ext cx="57096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dk1"/>
              </a:solidFill>
            </a:endParaRPr>
          </a:p>
        </p:txBody>
      </p:sp>
      <p:sp>
        <p:nvSpPr>
          <p:cNvPr id="45" name="Google Shape;45;g290153528ac_0_0"/>
          <p:cNvSpPr txBox="1"/>
          <p:nvPr/>
        </p:nvSpPr>
        <p:spPr>
          <a:xfrm>
            <a:off x="8887038" y="5638450"/>
            <a:ext cx="5597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46" name="Google Shape;46;g290153528ac_0_0"/>
          <p:cNvSpPr txBox="1"/>
          <p:nvPr/>
        </p:nvSpPr>
        <p:spPr>
          <a:xfrm>
            <a:off x="5825100" y="2669500"/>
            <a:ext cx="66378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b="1" lang="fr-FR" sz="5000">
                <a:solidFill>
                  <a:srgbClr val="0E0A1B"/>
                </a:solidFill>
                <a:latin typeface="Roboto"/>
                <a:ea typeface="Roboto"/>
                <a:cs typeface="Roboto"/>
                <a:sym typeface="Roboto"/>
              </a:rPr>
              <a:t>Les pratiques a évité !</a:t>
            </a:r>
            <a:endParaRPr b="1" sz="5000">
              <a:solidFill>
                <a:srgbClr val="0E0A1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" name="Google Shape;47;g290153528ac_0_0"/>
          <p:cNvSpPr txBox="1"/>
          <p:nvPr/>
        </p:nvSpPr>
        <p:spPr>
          <a:xfrm>
            <a:off x="4532688" y="4848400"/>
            <a:ext cx="12937500" cy="18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7350" lvl="0" marL="457200" rtl="0" algn="l">
              <a:spcBef>
                <a:spcPts val="1400"/>
              </a:spcBef>
              <a:spcAft>
                <a:spcPts val="0"/>
              </a:spcAft>
              <a:buSzPts val="2500"/>
              <a:buFont typeface="Roboto"/>
              <a:buChar char="➔"/>
            </a:pPr>
            <a:r>
              <a:rPr lang="fr-FR" sz="2500">
                <a:solidFill>
                  <a:srgbClr val="242424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Ne pas utiliser le</a:t>
            </a:r>
            <a:r>
              <a:rPr b="1" lang="fr-FR" sz="2500">
                <a:solidFill>
                  <a:schemeClr val="accent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lang="fr-FR" sz="2700">
                <a:solidFill>
                  <a:schemeClr val="accent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l</a:t>
            </a:r>
            <a:r>
              <a:rPr b="1" lang="fr-FR" sz="2800">
                <a:solidFill>
                  <a:schemeClr val="accent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ine-height</a:t>
            </a:r>
            <a:r>
              <a:rPr lang="fr-FR" sz="2500">
                <a:solidFill>
                  <a:srgbClr val="242424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en guise de marges ou des </a:t>
            </a:r>
            <a:r>
              <a:rPr b="1" lang="fr-FR" sz="2800">
                <a:solidFill>
                  <a:schemeClr val="accent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br</a:t>
            </a:r>
            <a:endParaRPr b="1" sz="2800">
              <a:solidFill>
                <a:schemeClr val="accent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Font typeface="Roboto"/>
              <a:buChar char="➔"/>
            </a:pPr>
            <a:r>
              <a:rPr lang="fr-FR" sz="2500">
                <a:solidFill>
                  <a:srgbClr val="242424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Éviter l’utilisation des balises HTML pour faire du style</a:t>
            </a:r>
            <a:endParaRPr sz="2500">
              <a:solidFill>
                <a:srgbClr val="242424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oboto"/>
              <a:buChar char="➔"/>
            </a:pPr>
            <a:r>
              <a:rPr b="1" lang="fr-FR" sz="2800">
                <a:solidFill>
                  <a:schemeClr val="accent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Éviter le mélange des langages</a:t>
            </a:r>
            <a:endParaRPr b="1" sz="2800">
              <a:solidFill>
                <a:schemeClr val="accent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rgbClr val="242424"/>
              </a:buClr>
              <a:buSzPts val="2500"/>
              <a:buFont typeface="Roboto"/>
              <a:buChar char="➔"/>
            </a:pPr>
            <a:r>
              <a:rPr lang="fr-FR" sz="2500">
                <a:solidFill>
                  <a:srgbClr val="242424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…</a:t>
            </a:r>
            <a:endParaRPr sz="2500">
              <a:solidFill>
                <a:srgbClr val="242424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8" name="Google Shape;48;g290153528ac_0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3663" y="4327750"/>
            <a:ext cx="2857500" cy="285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290153528ac_0_36"/>
          <p:cNvSpPr txBox="1"/>
          <p:nvPr/>
        </p:nvSpPr>
        <p:spPr>
          <a:xfrm>
            <a:off x="9144000" y="552394"/>
            <a:ext cx="8326200" cy="3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263E92"/>
              </a:buClr>
              <a:buSzPts val="3200"/>
              <a:buFont typeface="Roboto Slab"/>
              <a:buNone/>
            </a:pPr>
            <a:r>
              <a:rPr b="1" i="0" lang="fr-FR" sz="3200" u="none" cap="none" strike="noStrike">
                <a:solidFill>
                  <a:srgbClr val="263E92"/>
                </a:solidFill>
                <a:latin typeface="Roboto Slab"/>
                <a:ea typeface="Roboto Slab"/>
                <a:cs typeface="Roboto Slab"/>
                <a:sym typeface="Roboto Slab"/>
              </a:rPr>
              <a:t>HTML / </a:t>
            </a:r>
            <a:r>
              <a:rPr b="0" i="0" lang="fr-FR" sz="3200" u="none" cap="none" strike="noStrike">
                <a:solidFill>
                  <a:srgbClr val="263E92"/>
                </a:solidFill>
                <a:latin typeface="Roboto Slab"/>
                <a:ea typeface="Roboto Slab"/>
                <a:cs typeface="Roboto Slab"/>
                <a:sym typeface="Roboto Slab"/>
              </a:rPr>
              <a:t>Les bonnes pratiques</a:t>
            </a:r>
            <a:endParaRPr b="0" i="0" sz="3200" u="none" cap="none" strike="noStrike">
              <a:solidFill>
                <a:srgbClr val="263E92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pic>
        <p:nvPicPr>
          <p:cNvPr id="54" name="Google Shape;54;g290153528ac_0_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0461" y="304972"/>
            <a:ext cx="4044876" cy="725961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g290153528ac_0_36"/>
          <p:cNvSpPr txBox="1"/>
          <p:nvPr/>
        </p:nvSpPr>
        <p:spPr>
          <a:xfrm>
            <a:off x="449225" y="2515600"/>
            <a:ext cx="55971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chemeClr val="dk1"/>
              </a:solidFill>
            </a:endParaRPr>
          </a:p>
        </p:txBody>
      </p:sp>
      <p:sp>
        <p:nvSpPr>
          <p:cNvPr id="56" name="Google Shape;56;g290153528ac_0_36"/>
          <p:cNvSpPr txBox="1"/>
          <p:nvPr/>
        </p:nvSpPr>
        <p:spPr>
          <a:xfrm>
            <a:off x="7883700" y="2877250"/>
            <a:ext cx="57096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dk1"/>
              </a:solidFill>
            </a:endParaRPr>
          </a:p>
        </p:txBody>
      </p:sp>
      <p:sp>
        <p:nvSpPr>
          <p:cNvPr id="57" name="Google Shape;57;g290153528ac_0_36"/>
          <p:cNvSpPr txBox="1"/>
          <p:nvPr/>
        </p:nvSpPr>
        <p:spPr>
          <a:xfrm>
            <a:off x="8512600" y="5396200"/>
            <a:ext cx="5597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58" name="Google Shape;58;g290153528ac_0_36"/>
          <p:cNvSpPr txBox="1"/>
          <p:nvPr/>
        </p:nvSpPr>
        <p:spPr>
          <a:xfrm>
            <a:off x="4747000" y="4631475"/>
            <a:ext cx="66378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b="1" lang="fr-FR" sz="6200">
                <a:solidFill>
                  <a:srgbClr val="0E0A1B"/>
                </a:solidFill>
                <a:latin typeface="Roboto"/>
                <a:ea typeface="Roboto"/>
                <a:cs typeface="Roboto"/>
                <a:sym typeface="Roboto"/>
              </a:rPr>
              <a:t>Faire de la veille !</a:t>
            </a:r>
            <a:endParaRPr b="1" sz="6200">
              <a:solidFill>
                <a:srgbClr val="0E0A1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59" name="Google Shape;59;g290153528ac_0_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573175" y="4646850"/>
            <a:ext cx="5520300" cy="54572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290153528ac_0_52"/>
          <p:cNvSpPr/>
          <p:nvPr/>
        </p:nvSpPr>
        <p:spPr>
          <a:xfrm>
            <a:off x="0" y="-121024"/>
            <a:ext cx="18288000" cy="10407900"/>
          </a:xfrm>
          <a:prstGeom prst="rect">
            <a:avLst/>
          </a:prstGeom>
          <a:solidFill>
            <a:srgbClr val="00467C">
              <a:alpha val="81570"/>
            </a:srgbClr>
          </a:solidFill>
          <a:ln cap="flat" cmpd="sng" w="25400">
            <a:solidFill>
              <a:schemeClr val="accent1">
                <a:alpha val="0"/>
              </a:scheme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g290153528ac_0_52"/>
          <p:cNvSpPr txBox="1"/>
          <p:nvPr/>
        </p:nvSpPr>
        <p:spPr>
          <a:xfrm>
            <a:off x="5549507" y="4386830"/>
            <a:ext cx="8326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 Slab"/>
              <a:buNone/>
            </a:pPr>
            <a:r>
              <a:rPr b="1" lang="fr-FR" sz="4000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rPr>
              <a:t>Des questions ?</a:t>
            </a:r>
            <a:endParaRPr b="1" i="0" sz="4000" u="none" cap="none" strike="noStrike">
              <a:solidFill>
                <a:schemeClr val="lt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wiss">
  <a:themeElements>
    <a:clrScheme name="Swiss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1579B"/>
      </a:accent1>
      <a:accent2>
        <a:srgbClr val="27C7BD"/>
      </a:accent2>
      <a:accent3>
        <a:srgbClr val="0099E8"/>
      </a:accent3>
      <a:accent4>
        <a:srgbClr val="51B9A3"/>
      </a:accent4>
      <a:accent5>
        <a:srgbClr val="FB8C00"/>
      </a:accent5>
      <a:accent6>
        <a:srgbClr val="FFAE88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wiss">
  <a:themeElements>
    <a:clrScheme name="Swiss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1579B"/>
      </a:accent1>
      <a:accent2>
        <a:srgbClr val="27C7BD"/>
      </a:accent2>
      <a:accent3>
        <a:srgbClr val="0099E8"/>
      </a:accent3>
      <a:accent4>
        <a:srgbClr val="51B9A3"/>
      </a:accent4>
      <a:accent5>
        <a:srgbClr val="FB8C00"/>
      </a:accent5>
      <a:accent6>
        <a:srgbClr val="FFAE88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