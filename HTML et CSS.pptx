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embeddedFontLs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7ZMeiUQpg8yPPJbLRDrgv3yjo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7.xml"/><Relationship Id="rId22" Type="http://schemas.openxmlformats.org/officeDocument/2006/relationships/font" Target="fonts/Lato-italic.fntdata"/><Relationship Id="rId10" Type="http://schemas.openxmlformats.org/officeDocument/2006/relationships/slide" Target="slides/slide6.xml"/><Relationship Id="rId21" Type="http://schemas.openxmlformats.org/officeDocument/2006/relationships/font" Target="fonts/Lato-bold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w3schools.com/html/" TargetMode="External"/><Relationship Id="rId4" Type="http://schemas.openxmlformats.org/officeDocument/2006/relationships/hyperlink" Target="https://flexboxfroggy.com/#fr" TargetMode="External"/><Relationship Id="rId5" Type="http://schemas.openxmlformats.org/officeDocument/2006/relationships/hyperlink" Target="https://www.youtube.com/watch?v=J9w-cir5a6U&amp;t=2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fr-FR"/>
              <a:t>HTML et CSS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438" y="1528237"/>
            <a:ext cx="3729563" cy="3729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48367" y="1581595"/>
            <a:ext cx="2605698" cy="36762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HTML</a:t>
            </a:r>
            <a:endParaRPr/>
          </a:p>
        </p:txBody>
      </p:sp>
      <p:sp>
        <p:nvSpPr>
          <p:cNvPr id="93" name="Google Shape;93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A372A"/>
              </a:buClr>
              <a:buSzPct val="100000"/>
              <a:buChar char="•"/>
            </a:pPr>
            <a:r>
              <a:rPr b="1" i="0" lang="fr-FR">
                <a:solidFill>
                  <a:srgbClr val="BA372A"/>
                </a:solidFill>
                <a:latin typeface="Lato"/>
                <a:ea typeface="Lato"/>
                <a:cs typeface="Lato"/>
                <a:sym typeface="Lato"/>
              </a:rPr>
              <a:t>HTML (Hyper Text Markup Language)</a:t>
            </a:r>
            <a:r>
              <a:rPr b="0" i="0" lang="fr-FR">
                <a:latin typeface="Lato"/>
                <a:ea typeface="Lato"/>
                <a:cs typeface="Lato"/>
                <a:sym typeface="Lato"/>
              </a:rPr>
              <a:t> est un langage de balisage hypertexte, qui est utilisé pour créer les pages web.</a:t>
            </a:r>
            <a: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Il permet de structurer une page Web. Avec des balises, il permettra de définir le contenu d’une page. Comme par exemple les titres des paragraphes, des images, des listes etc.</a:t>
            </a:r>
            <a:b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ct val="100000"/>
              <a:buNone/>
            </a:pPr>
            <a: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Syntaxe :</a:t>
            </a:r>
            <a:b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ct val="100000"/>
              <a:buChar char="•"/>
            </a:pPr>
            <a: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Le nom d’une balise ainsi que son ou ses attributs, doivent être </a:t>
            </a:r>
            <a:r>
              <a:rPr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notés</a:t>
            </a:r>
            <a: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en minuscules.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ct val="100000"/>
              <a:buChar char="•"/>
            </a:pPr>
            <a: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Pour la valeur de </a:t>
            </a:r>
            <a:r>
              <a:rPr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l'attribut</a:t>
            </a:r>
            <a: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, on utilisera des guillemets.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ct val="100000"/>
              <a:buChar char="•"/>
            </a:pPr>
            <a: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Si la balise n’est pas auto fermente, elle doit être fermée par la balise </a:t>
            </a:r>
            <a:r>
              <a:rPr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fermante</a:t>
            </a:r>
            <a: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correspondante.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ct val="100000"/>
              <a:buChar char="•"/>
            </a:pPr>
            <a: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On peut imbriquer les balises entre elles.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ct val="100000"/>
              <a:buChar char="•"/>
            </a:pPr>
            <a: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Il faudra utiliser l’indentation (décalage par la droite à chaque nouvelle ouverture de balise)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ct val="100000"/>
              <a:buChar char="•"/>
            </a:pPr>
            <a: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Quand une balise contient une autre balise, on appellera la première balise la balise parent, et celles en dessous les </a:t>
            </a:r>
            <a:r>
              <a:rPr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alises enfants.</a:t>
            </a:r>
            <a:b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ct val="100000"/>
              <a:buChar char="•"/>
            </a:pPr>
            <a: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Dans ce cas, il faut veiller à fermer les balises  enfants, puis fermer les balises parents</a:t>
            </a:r>
            <a:endParaRPr/>
          </a:p>
          <a:p>
            <a:pPr indent="-1174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Exemples</a:t>
            </a:r>
            <a:endParaRPr/>
          </a:p>
        </p:txBody>
      </p:sp>
      <p:pic>
        <p:nvPicPr>
          <p:cNvPr id="99" name="Google Shape;99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6222" y="4789091"/>
            <a:ext cx="6953607" cy="132086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 txBox="1"/>
          <p:nvPr/>
        </p:nvSpPr>
        <p:spPr>
          <a:xfrm>
            <a:off x="2456222" y="3429000"/>
            <a:ext cx="609716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236FA1"/>
                </a:solidFill>
                <a:latin typeface="Lato"/>
                <a:ea typeface="Lato"/>
                <a:cs typeface="Lato"/>
                <a:sym typeface="Lato"/>
              </a:rPr>
              <a:t>&lt;div&gt;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236FA1"/>
                </a:solidFill>
                <a:latin typeface="Lato"/>
                <a:ea typeface="Lato"/>
                <a:cs typeface="Lato"/>
                <a:sym typeface="Lato"/>
              </a:rPr>
              <a:t>    &lt;p&gt;mon paragraphe&lt;/p&gt;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236FA1"/>
                </a:solidFill>
                <a:latin typeface="Lato"/>
                <a:ea typeface="Lato"/>
                <a:cs typeface="Lato"/>
                <a:sym typeface="Lato"/>
              </a:rPr>
              <a:t>&lt;/div&gt;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2355909" y="1791910"/>
            <a:ext cx="685044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 &lt;head&gt;</a:t>
            </a:r>
            <a:br>
              <a:rPr b="0" i="0" lang="fr-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fr-F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     &lt;meta name="author" content=“Jc Bazin" /&gt;</a:t>
            </a:r>
            <a:br>
              <a:rPr b="0" i="0" lang="fr-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fr-F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    &lt;title&gt; Exemple HTML &lt;/title&gt;</a:t>
            </a:r>
            <a:br>
              <a:rPr b="0" i="0" lang="fr-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fr-FR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 &lt;/head&gt;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63A"/>
              </a:buClr>
              <a:buSzPct val="100000"/>
              <a:buFont typeface="Lato"/>
              <a:buNone/>
            </a:pPr>
            <a:br>
              <a:rPr b="1" i="0" lang="fr-FR">
                <a:solidFill>
                  <a:srgbClr val="33363A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1" i="0" lang="fr-FR">
                <a:solidFill>
                  <a:srgbClr val="33363A"/>
                </a:solidFill>
                <a:latin typeface="Lato"/>
                <a:ea typeface="Lato"/>
                <a:cs typeface="Lato"/>
                <a:sym typeface="Lato"/>
              </a:rPr>
              <a:t>L'indentation, le commentaire</a:t>
            </a:r>
            <a:br>
              <a:rPr b="1" i="0" lang="fr-FR">
                <a:solidFill>
                  <a:srgbClr val="33363A"/>
                </a:solidFill>
                <a:latin typeface="Lato"/>
                <a:ea typeface="Lato"/>
                <a:cs typeface="Lato"/>
                <a:sym typeface="Lato"/>
              </a:rPr>
            </a:br>
            <a:endParaRPr/>
          </a:p>
        </p:txBody>
      </p:sp>
      <p:sp>
        <p:nvSpPr>
          <p:cNvPr id="107" name="Google Shape;10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63A"/>
              </a:buClr>
              <a:buSzPct val="91803"/>
              <a:buNone/>
            </a:pPr>
            <a:r>
              <a:rPr b="1" i="0" lang="fr-FR" sz="3050">
                <a:solidFill>
                  <a:srgbClr val="33363A"/>
                </a:solidFill>
                <a:latin typeface="Lato"/>
                <a:ea typeface="Lato"/>
                <a:cs typeface="Lato"/>
                <a:sym typeface="Lato"/>
              </a:rPr>
              <a:t>L'indentation :</a:t>
            </a:r>
            <a:endParaRPr sz="3050"/>
          </a:p>
          <a:p>
            <a:pPr indent="-221615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0" i="0" lang="fr-FR" sz="3050">
                <a:latin typeface="Lato"/>
                <a:ea typeface="Lato"/>
                <a:cs typeface="Lato"/>
                <a:sym typeface="Lato"/>
              </a:rPr>
              <a:t>L'indentation consiste en l'ajout de tabulations dans un code source.</a:t>
            </a:r>
            <a:endParaRPr sz="3050"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03"/>
              <a:buNone/>
            </a:pPr>
            <a:r>
              <a:rPr b="0" i="0" lang="fr-FR" sz="3050">
                <a:latin typeface="Lato"/>
                <a:ea typeface="Lato"/>
                <a:cs typeface="Lato"/>
                <a:sym typeface="Lato"/>
              </a:rPr>
              <a:t>Elle permet :</a:t>
            </a:r>
            <a:endParaRPr sz="3050"/>
          </a:p>
          <a:p>
            <a:pPr indent="-221615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fr-FR" sz="3050">
                <a:latin typeface="Lato"/>
                <a:ea typeface="Lato"/>
                <a:cs typeface="Lato"/>
                <a:sym typeface="Lato"/>
              </a:rPr>
              <a:t>de simplifier l' écriture d'un code</a:t>
            </a:r>
            <a:endParaRPr sz="3050"/>
          </a:p>
          <a:p>
            <a:pPr indent="-221615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fr-FR" sz="3050">
                <a:latin typeface="Lato"/>
                <a:ea typeface="Lato"/>
                <a:cs typeface="Lato"/>
                <a:sym typeface="Lato"/>
              </a:rPr>
              <a:t>de simplifier la maintenance du code</a:t>
            </a:r>
            <a:endParaRPr sz="3050"/>
          </a:p>
          <a:p>
            <a:pPr indent="-221615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fr-FR" sz="3050">
                <a:latin typeface="Lato"/>
                <a:ea typeface="Lato"/>
                <a:cs typeface="Lato"/>
                <a:sym typeface="Lato"/>
              </a:rPr>
              <a:t>d'améliorer la lisibilité du code écrit</a:t>
            </a:r>
            <a:endParaRPr sz="3050"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03"/>
              <a:buNone/>
            </a:pPr>
            <a:r>
              <a:rPr b="0" i="0" lang="fr-FR" sz="3050">
                <a:latin typeface="Lato"/>
                <a:ea typeface="Lato"/>
                <a:cs typeface="Lato"/>
                <a:sym typeface="Lato"/>
              </a:rPr>
              <a:t> </a:t>
            </a:r>
            <a:endParaRPr sz="3050"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fr-FR" sz="3050">
                <a:solidFill>
                  <a:srgbClr val="33363A"/>
                </a:solidFill>
                <a:latin typeface="Lato"/>
                <a:ea typeface="Lato"/>
                <a:cs typeface="Lato"/>
                <a:sym typeface="Lato"/>
              </a:rPr>
              <a:t>Le commentaire</a:t>
            </a:r>
            <a:endParaRPr sz="3050"/>
          </a:p>
          <a:p>
            <a:pPr indent="-144145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03"/>
              <a:buNone/>
            </a:pPr>
            <a:r>
              <a:t/>
            </a:r>
            <a:endParaRPr b="1" i="0" sz="3050">
              <a:solidFill>
                <a:srgbClr val="33363A"/>
              </a:solidFill>
              <a:latin typeface="Lato"/>
              <a:ea typeface="Lato"/>
              <a:cs typeface="Lato"/>
              <a:sym typeface="Lato"/>
            </a:endParaRPr>
          </a:p>
          <a:p>
            <a:pPr indent="-22161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ct val="100000"/>
              <a:buChar char="•"/>
            </a:pPr>
            <a:r>
              <a:rPr b="0" i="0" lang="fr-FR" sz="30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Le commentaire est une explication du code qui est écrit immédiatement après la fin du commentaire. Cela permet aux développeurs de se souvenir du fonctionnement d’un code complexe à lire ou de permettre à un de ses collègues présent ou futur, de maintenir facilement le code en le comprenant rapidement, sans être obligé de relire toutes les balises.</a:t>
            </a:r>
            <a:br>
              <a:rPr b="0" i="0" lang="fr-FR" sz="30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05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161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ct val="100000"/>
              <a:buChar char="•"/>
            </a:pPr>
            <a:r>
              <a:rPr b="0" i="0" lang="fr-FR" sz="30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Le commentaire est également utilisé pour préciser qu’une fonctionnalité n’est pas encore implémenter et qu’il faudra l’implémenter plus tard</a:t>
            </a:r>
            <a:endParaRPr b="1" i="0" sz="3050">
              <a:solidFill>
                <a:srgbClr val="33363A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03"/>
              <a:buNone/>
            </a:pPr>
            <a:r>
              <a:rPr b="0" i="0" lang="fr-FR" sz="3050">
                <a:latin typeface="Lato"/>
                <a:ea typeface="Lato"/>
                <a:cs typeface="Lato"/>
                <a:sym typeface="Lato"/>
              </a:rPr>
              <a:t>En HTML, le commentaire se note :</a:t>
            </a:r>
            <a:endParaRPr sz="3050"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03"/>
              <a:buNone/>
            </a:pPr>
            <a:r>
              <a:rPr b="0" i="0" lang="fr-FR" sz="3050">
                <a:latin typeface="Lato"/>
                <a:ea typeface="Lato"/>
                <a:cs typeface="Lato"/>
                <a:sym typeface="Lato"/>
              </a:rPr>
              <a:t> &lt;!--    ceci est commenté --&gt;</a:t>
            </a:r>
            <a:endParaRPr sz="3050"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0" i="0">
              <a:latin typeface="Lato"/>
              <a:ea typeface="Lato"/>
              <a:cs typeface="Lato"/>
              <a:sym typeface="Lato"/>
            </a:endParaRPr>
          </a:p>
          <a:p>
            <a:pPr indent="-14414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13" name="Google Shape;113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1350" y="0"/>
            <a:ext cx="6489299" cy="6655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4400"/>
              <a:buFont typeface="Arial"/>
              <a:buNone/>
            </a:pPr>
            <a: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Les balises ouvrantes et fermantes.</a:t>
            </a:r>
            <a:b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19" name="Google Shape;119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ct val="100000"/>
              <a:buNone/>
            </a:pPr>
            <a:b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ct val="100000"/>
              <a:buChar char="•"/>
            </a:pPr>
            <a: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Les balises ouvrantes et fermantes fonctionnent par paires.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ct val="100000"/>
              <a:buChar char="•"/>
            </a:pPr>
            <a: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La balise ouvrante se notera ainsi :&lt;p&gt;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ct val="100000"/>
              <a:buChar char="•"/>
            </a:pPr>
            <a: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Et la balise fermante ainsi : &lt;/p&gt;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ct val="100000"/>
              <a:buChar char="•"/>
            </a:pPr>
            <a: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Voici quelques exemples 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0" i="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B1B1B"/>
              </a:buClr>
              <a:buSzPct val="100000"/>
              <a:buChar char="•"/>
            </a:pPr>
            <a:r>
              <a:rPr b="0" i="0" lang="fr-FR" sz="2800" u="none" cap="none" strike="noStrike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&lt;h2&gt;</a:t>
            </a:r>
            <a:r>
              <a:rPr lang="fr-FR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un titre</a:t>
            </a:r>
            <a:r>
              <a:rPr b="0" i="0" lang="fr-FR" sz="2800" u="none" cap="none" strike="noStrike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&lt;/h2&gt;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B1B1B"/>
              </a:buClr>
              <a:buSzPct val="100000"/>
              <a:buChar char="•"/>
            </a:pPr>
            <a:r>
              <a:rPr b="0" i="0" lang="fr-FR" sz="2800" u="none" cap="none" strike="noStrike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&lt;p&gt;Un paragraphe.&lt;/p&gt;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B1B1B"/>
              </a:buClr>
              <a:buSzPct val="100000"/>
              <a:buChar char="•"/>
            </a:pPr>
            <a:r>
              <a:rPr lang="fr-FR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&lt;a&gt; un lien &lt;/a&gt;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B1B1B"/>
              </a:buClr>
              <a:buSzPct val="100000"/>
              <a:buChar char="•"/>
            </a:pPr>
            <a:r>
              <a:rPr b="0" i="0" lang="fr-FR">
                <a:solidFill>
                  <a:srgbClr val="1B1B1B"/>
                </a:solidFill>
                <a:latin typeface="Arial"/>
                <a:ea typeface="Arial"/>
                <a:cs typeface="Arial"/>
                <a:sym typeface="Arial"/>
              </a:rPr>
              <a:t>&lt;div&gt; une div &lt;/div&gt;</a:t>
            </a:r>
            <a:endParaRPr b="0" i="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4400"/>
              <a:buFont typeface="Arial"/>
              <a:buNone/>
            </a:pPr>
            <a: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Les balises auto fermantes</a:t>
            </a:r>
            <a:endParaRPr/>
          </a:p>
        </p:txBody>
      </p:sp>
      <p:sp>
        <p:nvSpPr>
          <p:cNvPr id="125" name="Google Shape;125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Char char="•"/>
            </a:pPr>
            <a: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Les balises auto fermantes n’ont pas de contenu. Elles se ferment avec le symbole : /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2800"/>
              <a:buChar char="•"/>
            </a:pPr>
            <a: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Quelques exemples 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2800"/>
              <a:buChar char="•"/>
            </a:pPr>
            <a:r>
              <a:rPr b="0" i="0" lang="fr-FR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&lt;img/&gt;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2800"/>
              <a:buChar char="•"/>
            </a:pPr>
            <a:r>
              <a:rPr b="0" i="0" lang="fr-FR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&lt;input/&gt;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2800"/>
              <a:buChar char="•"/>
            </a:pPr>
            <a:r>
              <a:rPr b="0" i="0" lang="fr-FR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&lt;link/&gt;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Les types de balises inline et block</a:t>
            </a:r>
            <a:endParaRPr/>
          </a:p>
        </p:txBody>
      </p:sp>
      <p:sp>
        <p:nvSpPr>
          <p:cNvPr id="131" name="Google Shape;131;p8"/>
          <p:cNvSpPr txBox="1"/>
          <p:nvPr>
            <p:ph idx="1" type="body"/>
          </p:nvPr>
        </p:nvSpPr>
        <p:spPr>
          <a:xfrm>
            <a:off x="254000" y="1825625"/>
            <a:ext cx="11099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ct val="100000"/>
              <a:buNone/>
            </a:pPr>
            <a: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Il existe deux catégories de balises:</a:t>
            </a:r>
            <a:b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ct val="100000"/>
              <a:buNone/>
            </a:pPr>
            <a: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Les balises inline, les balises de type block.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0" i="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ct val="100000"/>
              <a:buNone/>
            </a:pPr>
            <a: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Des balises inline ont la particularité de faire apparaître le contenu en ligne. Les éléments les uns à la suite des autres.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ct val="100000"/>
              <a:buNone/>
            </a:pPr>
            <a: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Elles n’ont donc pas de marges internes ou externes.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ct val="100000"/>
              <a:buNone/>
            </a:pPr>
            <a: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Quelques exemples 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ct val="100000"/>
              <a:buNone/>
            </a:pPr>
            <a:r>
              <a:rPr b="0" i="0" lang="fr-FR" sz="29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fr-FR" sz="29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i="0" lang="fr-FR" sz="29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fr-FR" sz="29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href</a:t>
            </a:r>
            <a:r>
              <a:rPr b="0" i="0" lang="fr-FR" sz="29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fr-FR" sz="29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'#'</a:t>
            </a:r>
            <a:r>
              <a:rPr b="0" i="0" lang="fr-FR" sz="29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fr-FR" sz="29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un lien </a:t>
            </a:r>
            <a:r>
              <a:rPr b="0" i="0" lang="fr-FR" sz="29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fr-FR" sz="29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i="0" lang="fr-FR" sz="29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b="0" i="0" lang="fr-FR" sz="29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fr-FR" sz="29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fr-FR" sz="29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strong</a:t>
            </a:r>
            <a:r>
              <a:rPr b="0" i="0" lang="fr-FR" sz="29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fr-FR" sz="29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un texte important</a:t>
            </a:r>
            <a:r>
              <a:rPr b="0" i="0" lang="fr-FR" sz="29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fr-FR" sz="29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strong</a:t>
            </a:r>
            <a:r>
              <a:rPr b="0" i="0" lang="fr-FR" sz="29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ct val="100000"/>
              <a:buNone/>
            </a:pPr>
            <a:r>
              <a:rPr b="0" i="0" lang="fr-FR" sz="29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fr-FR" sz="29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em</a:t>
            </a:r>
            <a:r>
              <a:rPr b="0" i="0" lang="fr-FR" sz="29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fr-FR" sz="29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un passage assez important, avec </a:t>
            </a:r>
            <a:r>
              <a:rPr b="0" i="0" lang="fr-FR" sz="29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fr-FR" sz="29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i="0" lang="fr-FR" sz="29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fr-FR" sz="29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href</a:t>
            </a:r>
            <a:r>
              <a:rPr b="0" i="0" lang="fr-FR" sz="29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fr-FR" sz="29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'#'</a:t>
            </a:r>
            <a:r>
              <a:rPr b="0" i="0" lang="fr-FR" sz="29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fr-FR" sz="29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un lien</a:t>
            </a:r>
            <a:r>
              <a:rPr b="0" i="0" lang="fr-FR" sz="29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fr-FR" sz="29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i="0" lang="fr-FR" sz="29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b="0" i="0" lang="fr-FR" sz="29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em</a:t>
            </a:r>
            <a:r>
              <a:rPr b="0" i="0" lang="fr-FR" sz="29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b="0" i="0" lang="fr-FR" sz="29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fr-FR" sz="29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fr-FR" sz="29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b="0" i="0" lang="fr-FR" sz="29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fr-FR" sz="29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test</a:t>
            </a:r>
            <a:r>
              <a:rPr b="0" i="0" lang="fr-FR" sz="29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fr-FR" sz="29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b="0" i="0" lang="fr-FR" sz="29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0" i="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080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7" name="Google Shape;13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165735" lvl="0" marL="228600" rtl="0" algn="just">
              <a:lnSpc>
                <a:spcPct val="791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0" i="0" sz="180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ct val="100000"/>
              <a:buNone/>
            </a:pPr>
            <a:r>
              <a:rPr b="0" i="0" lang="fr-FR" sz="3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Les balises block: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ct val="100000"/>
              <a:buNone/>
            </a:pPr>
            <a:br>
              <a:rPr b="0" i="0" lang="fr-FR" sz="3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60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ct val="100000"/>
              <a:buNone/>
            </a:pPr>
            <a:r>
              <a:rPr b="0" i="0" lang="fr-FR" sz="3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Des balises de type block servent à créer des </a:t>
            </a:r>
            <a:r>
              <a:rPr lang="fr-FR" sz="3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boîtes</a:t>
            </a:r>
            <a:r>
              <a:rPr b="0" i="0" lang="fr-FR" sz="3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, elles ont des marges internes et externes de façon native.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ct val="100000"/>
              <a:buNone/>
            </a:pPr>
            <a:r>
              <a:rPr b="0" i="0" lang="fr-FR" sz="3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Leur taille peut être </a:t>
            </a:r>
            <a:r>
              <a:rPr lang="fr-FR" sz="3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influencée</a:t>
            </a:r>
            <a:r>
              <a:rPr b="0" i="0" lang="fr-FR" sz="3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par la balise parents qui les contient éventuellement.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ct val="100000"/>
              <a:buNone/>
            </a:pPr>
            <a:r>
              <a:rPr b="0" i="0" lang="fr-FR" sz="3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Quelques exemples de balise block :</a:t>
            </a:r>
            <a:endParaRPr sz="360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lnSpc>
                <a:spcPct val="57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0" i="0" sz="250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just">
              <a:lnSpc>
                <a:spcPct val="50892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ct val="100000"/>
              <a:buChar char="•"/>
            </a:pPr>
            <a:r>
              <a:rPr b="0" i="0" lang="fr-FR" sz="25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fr-FR" sz="25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fr-FR" sz="25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fr-FR" sz="2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fr-FR" sz="2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Peut contenir n’importe quel type de contenu.</a:t>
            </a:r>
            <a:r>
              <a:rPr b="0" i="0" lang="fr-FR" sz="2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r>
              <a:rPr b="0" i="0" lang="fr-FR" sz="25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fr-FR" sz="25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fr-FR" sz="25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25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just">
              <a:lnSpc>
                <a:spcPct val="57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ct val="100000"/>
              <a:buChar char="•"/>
            </a:pPr>
            <a:r>
              <a:rPr b="0" i="0" lang="fr-FR" sz="25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fr-FR" sz="25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header</a:t>
            </a:r>
            <a:r>
              <a:rPr b="0" i="0" lang="fr-FR" sz="25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i="0" lang="fr-FR" sz="2500">
                <a:latin typeface="Consolas"/>
                <a:ea typeface="Consolas"/>
                <a:cs typeface="Consolas"/>
                <a:sym typeface="Consolas"/>
              </a:rPr>
              <a:t>peut contenir images (logo) ; navigation, etc</a:t>
            </a:r>
            <a:r>
              <a:rPr b="0" i="0" lang="fr-FR" sz="2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fr-FR" sz="25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fr-FR" sz="25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header</a:t>
            </a:r>
            <a:r>
              <a:rPr b="0" i="0" lang="fr-FR" sz="25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25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just">
              <a:lnSpc>
                <a:spcPct val="50892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ct val="100000"/>
              <a:buChar char="•"/>
            </a:pPr>
            <a:r>
              <a:rPr b="0" i="0" lang="fr-FR" sz="25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fr-FR" sz="25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h1</a:t>
            </a:r>
            <a:r>
              <a:rPr b="0" i="0" lang="fr-FR" sz="25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fr-FR" sz="2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Les titres sont considérés comme des blocs.</a:t>
            </a:r>
            <a:r>
              <a:rPr b="0" i="0" lang="fr-FR" sz="25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fr-FR" sz="25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h1</a:t>
            </a:r>
            <a:r>
              <a:rPr b="0" i="0" lang="fr-FR" sz="25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25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just">
              <a:lnSpc>
                <a:spcPct val="50892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ct val="100000"/>
              <a:buChar char="•"/>
            </a:pPr>
            <a:r>
              <a:rPr b="0" i="0" lang="fr-FR" sz="25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fr-FR" sz="25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0" i="0" lang="fr-FR" sz="25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fr-FR" sz="2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Les paragraphes également</a:t>
            </a:r>
            <a:r>
              <a:rPr b="0" i="0" lang="fr-FR" sz="25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fr-FR" sz="25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0" i="0" lang="fr-FR" sz="25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2500">
              <a:latin typeface="Calibri"/>
              <a:ea typeface="Calibri"/>
              <a:cs typeface="Calibri"/>
              <a:sym typeface="Calibri"/>
            </a:endParaRPr>
          </a:p>
          <a:p>
            <a:pPr indent="-13081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La structure de base</a:t>
            </a:r>
            <a:endParaRPr/>
          </a:p>
        </p:txBody>
      </p:sp>
      <p:sp>
        <p:nvSpPr>
          <p:cNvPr id="143" name="Google Shape;143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79166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800"/>
              <a:buChar char="•"/>
            </a:pPr>
            <a:r>
              <a:rPr b="0" i="0" lang="fr-FR" sz="1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&lt;!</a:t>
            </a:r>
            <a:r>
              <a:rPr b="0" i="0" lang="fr-FR" sz="18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DOCTYPE</a:t>
            </a:r>
            <a:r>
              <a:rPr b="0" i="0" lang="fr-FR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fr-FR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b="0" i="0" lang="fr-FR" sz="1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just">
              <a:lnSpc>
                <a:spcPct val="79166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800"/>
              <a:buChar char="•"/>
            </a:pPr>
            <a:r>
              <a:rPr b="0" i="0" lang="fr-FR" sz="1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fr-FR" sz="18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b="0" i="0" lang="fr-FR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fr-FR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lang</a:t>
            </a:r>
            <a:r>
              <a:rPr b="0" i="0" lang="fr-FR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fr-FR" sz="18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"fr"</a:t>
            </a:r>
            <a:r>
              <a:rPr b="0" i="0" lang="fr-FR" sz="1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just">
              <a:lnSpc>
                <a:spcPct val="79166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800"/>
              <a:buChar char="•"/>
            </a:pPr>
            <a:r>
              <a:rPr b="0" i="0" lang="fr-FR" sz="1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fr-FR" sz="18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b="0" i="0" lang="fr-FR" sz="1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just">
              <a:lnSpc>
                <a:spcPct val="79166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ts val="1800"/>
              <a:buChar char="•"/>
            </a:pPr>
            <a:r>
              <a:rPr b="0" i="0" lang="fr-FR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0" lang="fr-FR" sz="1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fr-FR" sz="18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meta</a:t>
            </a:r>
            <a:r>
              <a:rPr b="0" i="0" lang="fr-FR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fr-FR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charset</a:t>
            </a:r>
            <a:r>
              <a:rPr b="0" i="0" lang="fr-FR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fr-FR" sz="18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"UTF-8"</a:t>
            </a:r>
            <a:r>
              <a:rPr b="0" i="0" lang="fr-FR" sz="1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just">
              <a:lnSpc>
                <a:spcPct val="79166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ts val="1800"/>
              <a:buChar char="•"/>
            </a:pPr>
            <a:r>
              <a:rPr b="0" i="0" lang="fr-FR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0" lang="fr-FR" sz="1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fr-FR" sz="18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meta</a:t>
            </a:r>
            <a:r>
              <a:rPr b="0" i="0" lang="fr-FR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fr-FR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b="0" i="0" lang="fr-FR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fr-FR" sz="18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"viewport"</a:t>
            </a:r>
            <a:r>
              <a:rPr b="0" i="0" lang="fr-FR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fr-FR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content</a:t>
            </a:r>
            <a:r>
              <a:rPr b="0" i="0" lang="fr-FR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fr-FR" sz="18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"width=device-width, initial-scale=1.0"</a:t>
            </a:r>
            <a:r>
              <a:rPr b="0" i="0" lang="fr-FR" sz="1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just">
              <a:lnSpc>
                <a:spcPct val="79166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ts val="1800"/>
              <a:buChar char="•"/>
            </a:pPr>
            <a:r>
              <a:rPr b="0" i="0" lang="fr-FR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0" lang="fr-FR" sz="1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fr-FR" sz="18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b="0" i="0" lang="fr-FR" sz="1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fr-FR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Document</a:t>
            </a:r>
            <a:r>
              <a:rPr b="0" i="0" lang="fr-FR" sz="1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fr-FR" sz="18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b="0" i="0" lang="fr-FR" sz="1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just">
              <a:lnSpc>
                <a:spcPct val="79166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800"/>
              <a:buChar char="•"/>
            </a:pPr>
            <a:r>
              <a:rPr b="0" i="0" lang="fr-FR" sz="1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fr-FR" sz="18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b="0" i="0" lang="fr-FR" sz="1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just">
              <a:lnSpc>
                <a:spcPct val="79166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800"/>
              <a:buChar char="•"/>
            </a:pPr>
            <a:r>
              <a:rPr b="0" i="0" lang="fr-FR" sz="1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fr-FR" sz="18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b="0" i="0" lang="fr-FR" sz="1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just">
              <a:lnSpc>
                <a:spcPct val="79166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ts val="1800"/>
              <a:buChar char="•"/>
            </a:pPr>
            <a:r>
              <a:rPr b="0" i="0" lang="fr-FR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endParaRPr b="0" i="0" sz="1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just">
              <a:lnSpc>
                <a:spcPct val="79166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800"/>
              <a:buChar char="•"/>
            </a:pPr>
            <a:r>
              <a:rPr b="0" i="0" lang="fr-FR" sz="1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fr-FR" sz="18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b="0" i="0" lang="fr-FR" sz="1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just">
              <a:lnSpc>
                <a:spcPct val="79166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800"/>
              <a:buChar char="•"/>
            </a:pPr>
            <a:r>
              <a:rPr b="0" i="0" lang="fr-FR" sz="1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i="0" lang="fr-FR" sz="18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b="0" i="0" lang="fr-FR" sz="1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Structures de base</a:t>
            </a:r>
            <a:endParaRPr/>
          </a:p>
        </p:txBody>
      </p:sp>
      <p:sp>
        <p:nvSpPr>
          <p:cNvPr id="149" name="Google Shape;149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215265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63A"/>
              </a:buClr>
              <a:buSzPct val="100000"/>
              <a:buChar char="•"/>
            </a:pPr>
            <a:r>
              <a:rPr b="1" i="0" lang="fr-FR">
                <a:solidFill>
                  <a:srgbClr val="33363A"/>
                </a:solidFill>
                <a:latin typeface="Lato"/>
                <a:ea typeface="Lato"/>
                <a:cs typeface="Lato"/>
                <a:sym typeface="Lato"/>
              </a:rPr>
              <a:t>La partie &lt;Head&gt;</a:t>
            </a:r>
            <a:endParaRPr/>
          </a:p>
          <a:p>
            <a:pPr indent="-215265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0" i="0" lang="fr-FR">
                <a:latin typeface="Lato"/>
                <a:ea typeface="Lato"/>
                <a:cs typeface="Lato"/>
                <a:sym typeface="Lato"/>
              </a:rPr>
              <a:t>Dans  &lt;head&gt;  se trouvent toutes les informations sur la page : table de caractères utilisée, titre du document,  lien vers les fichiers css, javascript… et autres.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ct val="100000"/>
              <a:buChar char="•"/>
            </a:pPr>
            <a: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Ce qui sera noté dans la balise Title apparaît dans l’onglet du navigateur. Depuis HTML 5 on dispose de plusieurs balises afin de structurer la page.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91E63"/>
              </a:buClr>
              <a:buSzPct val="100000"/>
              <a:buChar char="•"/>
            </a:pPr>
            <a:r>
              <a:rPr lang="fr-FR">
                <a:solidFill>
                  <a:srgbClr val="E91E63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b="0" i="0" lang="fr-FR">
                <a:solidFill>
                  <a:srgbClr val="E91E63"/>
                </a:solidFill>
                <a:latin typeface="Arial"/>
                <a:ea typeface="Arial"/>
                <a:cs typeface="Arial"/>
                <a:sym typeface="Arial"/>
              </a:rPr>
              <a:t>header &gt;&lt;/header&gt; : </a:t>
            </a:r>
            <a: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Entête du site où on retrouvera le logo, la barre de navigation.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91E63"/>
              </a:buClr>
              <a:buSzPct val="100000"/>
              <a:buChar char="•"/>
            </a:pPr>
            <a:r>
              <a:rPr b="0" i="0" lang="fr-FR">
                <a:solidFill>
                  <a:srgbClr val="E91E63"/>
                </a:solidFill>
                <a:latin typeface="Arial"/>
                <a:ea typeface="Arial"/>
                <a:cs typeface="Arial"/>
                <a:sym typeface="Arial"/>
              </a:rPr>
              <a:t>&lt;nav&gt;&lt;/nav&gt;</a:t>
            </a:r>
            <a: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: Typiquement </a:t>
            </a:r>
            <a:r>
              <a:rPr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lle contient les liens de navigation du site. On retrouvera une &lt;ul</a:t>
            </a:r>
            <a:r>
              <a:rPr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&gt; ou &lt;ol&gt;</a:t>
            </a:r>
            <a:endParaRPr b="0" i="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91E63"/>
              </a:buClr>
              <a:buSzPct val="100000"/>
              <a:buChar char="•"/>
            </a:pPr>
            <a:r>
              <a:rPr b="0" i="0" lang="fr-FR">
                <a:solidFill>
                  <a:srgbClr val="E91E63"/>
                </a:solidFill>
                <a:latin typeface="Arial"/>
                <a:ea typeface="Arial"/>
                <a:cs typeface="Arial"/>
                <a:sym typeface="Arial"/>
              </a:rPr>
              <a:t>&lt;main&gt; &lt;/main&gt; </a:t>
            </a:r>
            <a:r>
              <a:rPr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ette balise est unique, elle indique le contenu principal de la page. elle va être importante dans le référencement. 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91E63"/>
              </a:buClr>
              <a:buSzPct val="100000"/>
              <a:buChar char="•"/>
            </a:pPr>
            <a:r>
              <a:rPr b="0" i="0" lang="fr-FR">
                <a:solidFill>
                  <a:srgbClr val="E91E63"/>
                </a:solidFill>
                <a:latin typeface="Arial"/>
                <a:ea typeface="Arial"/>
                <a:cs typeface="Arial"/>
                <a:sym typeface="Arial"/>
              </a:rPr>
              <a:t>&lt;article&gt;&lt;/article&gt;  et &lt;section&gt;&lt;/section&gt;  </a:t>
            </a:r>
            <a: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sont des balises qui indiquent du contenu sur un theme. On les utilisera en fonction de la pertinence de l’information que l’on veut retranscrire. Elle sera typiquement dans le main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91E63"/>
              </a:buClr>
              <a:buSzPct val="100000"/>
              <a:buChar char="•"/>
            </a:pPr>
            <a:r>
              <a:rPr b="0" i="0" lang="fr-FR">
                <a:solidFill>
                  <a:srgbClr val="E91E63"/>
                </a:solidFill>
                <a:latin typeface="Arial"/>
                <a:ea typeface="Arial"/>
                <a:cs typeface="Arial"/>
                <a:sym typeface="Arial"/>
              </a:rPr>
              <a:t>&lt;footer&gt;&lt;/footer&gt; </a:t>
            </a:r>
            <a:r>
              <a:rPr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st le pied de page. C’est ici que nous retrouverons des FAQ, des liens vers les mentions légales et autres informations du site.</a:t>
            </a:r>
            <a:endParaRPr/>
          </a:p>
          <a:p>
            <a:pPr indent="-1041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5" name="Google Shape;15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0" i="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56" name="Google Shape;15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1412" y="0"/>
            <a:ext cx="504917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2" name="Google Shape;162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Char char="•"/>
            </a:pPr>
            <a: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Premier TP 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2800"/>
              <a:buChar char="•"/>
            </a:pPr>
            <a: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À l’aide de votre formateur, vous allez rendre visible les extensions de fichiers dans Windows.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2800"/>
              <a:buChar char="•"/>
            </a:pPr>
            <a: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Puis créer votre première page HTML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2800"/>
              <a:buChar char="•"/>
            </a:pPr>
            <a: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Dans cette page, vous coderez la structure de base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2800"/>
              <a:buChar char="•"/>
            </a:pPr>
            <a: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Et vous ferez apparaître un titre, un paragraphe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2800"/>
              <a:buChar char="•"/>
            </a:pPr>
            <a:r>
              <a:rPr b="0" i="0" lang="fr-FR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Une unsorted list.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8" name="Google Shape;168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ct val="100000"/>
              <a:buChar char="•"/>
            </a:pP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&lt;!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DOCTYPE</a:t>
            </a: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fr-FR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ct val="100000"/>
              <a:buChar char="•"/>
            </a:pP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fr-FR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lang</a:t>
            </a: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fr-FR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"fr"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ct val="100000"/>
              <a:buChar char="•"/>
            </a:pP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ct val="100000"/>
              <a:buChar char="•"/>
            </a:pP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meta</a:t>
            </a: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fr-FR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charset</a:t>
            </a: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fr-FR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"UTF-8"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ct val="100000"/>
              <a:buChar char="•"/>
            </a:pP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page surfs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ct val="100000"/>
              <a:buChar char="•"/>
            </a:pP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ct val="100000"/>
              <a:buChar char="•"/>
            </a:pP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ct val="100000"/>
              <a:buChar char="•"/>
            </a:pP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fr-FR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&lt;!-- ============ header ============ --&gt;</a:t>
            </a:r>
            <a:endParaRPr b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ct val="100000"/>
              <a:buChar char="•"/>
            </a:pP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header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ct val="100000"/>
              <a:buChar char="•"/>
            </a:pP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img</a:t>
            </a: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fr-FR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src</a:t>
            </a: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fr-FR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"logo.jpg"</a:t>
            </a: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fr-FR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alt</a:t>
            </a: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fr-FR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"logo"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b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ct val="100000"/>
              <a:buChar char="•"/>
            </a:pP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Un site conçu avec HTML5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ct val="100000"/>
              <a:buChar char="•"/>
            </a:pP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header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ct val="100000"/>
              <a:buChar char="•"/>
            </a:pP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fr-FR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&lt;!-- =========== navigation ========== --&gt;</a:t>
            </a:r>
            <a:endParaRPr b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ct val="100000"/>
              <a:buChar char="•"/>
            </a:pP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nav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ct val="100000"/>
              <a:buChar char="•"/>
            </a:pP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ct val="100000"/>
              <a:buChar char="•"/>
            </a:pP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&gt;&lt;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fr-FR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href</a:t>
            </a: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fr-FR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"#"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Surf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ct val="100000"/>
              <a:buChar char="•"/>
            </a:pP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&gt;&lt;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fr-FR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href</a:t>
            </a: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fr-FR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"#"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Ski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ct val="100000"/>
              <a:buChar char="•"/>
            </a:pP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&gt;&lt;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fr-FR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href</a:t>
            </a: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fr-FR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"#"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luges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ct val="100000"/>
              <a:buChar char="•"/>
            </a:pP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ct val="100000"/>
              <a:buChar char="•"/>
            </a:pP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nav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ct val="100000"/>
              <a:buChar char="•"/>
            </a:pP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fr-FR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&lt;!-- ======= contenu principal ======= --&gt;</a:t>
            </a:r>
            <a:endParaRPr b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ct val="100000"/>
              <a:buChar char="•"/>
            </a:pP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ct val="100000"/>
              <a:buChar char="•"/>
            </a:pP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h1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Notre sellection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h1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ct val="100000"/>
              <a:buChar char="•"/>
            </a:pP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ct val="100000"/>
              <a:buChar char="•"/>
            </a:pP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Un paragraphe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ct val="100000"/>
              <a:buChar char="•"/>
            </a:pP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ct val="100000"/>
              <a:buChar char="•"/>
            </a:pP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ct val="100000"/>
              <a:buChar char="•"/>
            </a:pP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ct val="100000"/>
              <a:buChar char="•"/>
            </a:pP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test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ct val="100000"/>
              <a:buChar char="•"/>
            </a:pP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test2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ct val="100000"/>
              <a:buChar char="•"/>
            </a:pP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ct val="100000"/>
              <a:buChar char="•"/>
            </a:pP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ct val="100000"/>
              <a:buChar char="•"/>
            </a:pP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ct val="100000"/>
              <a:buChar char="•"/>
            </a:pP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ct val="100000"/>
              <a:buChar char="•"/>
            </a:pP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fr-FR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&lt;!-- ======= footer ======= --&gt;</a:t>
            </a:r>
            <a:endParaRPr b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ct val="100000"/>
              <a:buChar char="•"/>
            </a:pP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footer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ct val="100000"/>
              <a:buChar char="•"/>
            </a:pP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© tous droits réservés -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fr-FR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href</a:t>
            </a: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fr-FR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'#'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Mentions légales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ct val="100000"/>
              <a:buChar char="•"/>
            </a:pPr>
            <a:r>
              <a:rPr b="0" lang="fr-F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footer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ct val="100000"/>
              <a:buChar char="•"/>
            </a:pP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ct val="100000"/>
              <a:buChar char="•"/>
            </a:pP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b="0" lang="fr-F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b="0" lang="fr-FR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1841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Ressources</a:t>
            </a:r>
            <a:endParaRPr/>
          </a:p>
        </p:txBody>
      </p:sp>
      <p:sp>
        <p:nvSpPr>
          <p:cNvPr id="174" name="Google Shape;174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64135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FR" u="sng">
                <a:solidFill>
                  <a:schemeClr val="hlink"/>
                </a:solidFill>
                <a:hlinkClick r:id="rId3"/>
              </a:rPr>
              <a:t>https://www.w3schools.com/html/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FR" u="sng">
                <a:solidFill>
                  <a:schemeClr val="hlink"/>
                </a:solidFill>
                <a:hlinkClick r:id="rId4"/>
              </a:rPr>
              <a:t>https://flexboxfroggy.com/#fr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FR"/>
              <a:t>Videos :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FR" u="sng">
                <a:solidFill>
                  <a:schemeClr val="hlink"/>
                </a:solidFill>
                <a:hlinkClick r:id="rId5"/>
              </a:rPr>
              <a:t>https://www.youtube.com/watch?v=J9w-cir5a6U&amp;t=2s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2023-02-06T10:14:38Z</dcterms:created>
  <dc:creator>jean-césar bazin</dc:creator>
</cp:coreProperties>
</file>